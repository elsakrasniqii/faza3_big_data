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Poppins Light"/>
      <p:regular r:id="rId19"/>
      <p:bold r:id="rId20"/>
      <p:italic r:id="rId21"/>
      <p:boldItalic r:id="rId22"/>
    </p:embeddedFont>
    <p:embeddedFont>
      <p:font typeface="Roboto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Light-bold.fntdata"/><Relationship Id="rId22" Type="http://schemas.openxmlformats.org/officeDocument/2006/relationships/font" Target="fonts/PoppinsLight-boldItalic.fntdata"/><Relationship Id="rId21" Type="http://schemas.openxmlformats.org/officeDocument/2006/relationships/font" Target="fonts/PoppinsLight-italic.fntdata"/><Relationship Id="rId24" Type="http://schemas.openxmlformats.org/officeDocument/2006/relationships/font" Target="fonts/RobotoLight-bold.fntdata"/><Relationship Id="rId23" Type="http://schemas.openxmlformats.org/officeDocument/2006/relationships/font" Target="fonts/Roboto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Light-boldItalic.fntdata"/><Relationship Id="rId25" Type="http://schemas.openxmlformats.org/officeDocument/2006/relationships/font" Target="fonts/Roboto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Poppins-regular.fntdata"/><Relationship Id="rId14" Type="http://schemas.openxmlformats.org/officeDocument/2006/relationships/slide" Target="slides/slide10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PoppinsLight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" name="Google Shape;12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" name="Google Shape;15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3"/>
          <p:cNvSpPr/>
          <p:nvPr/>
        </p:nvSpPr>
        <p:spPr>
          <a:xfrm>
            <a:off x="496119" y="1691357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b="0" i="0" lang="en-US" sz="2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NoSQL, Big Data &amp; Network Analysis</a:t>
            </a:r>
            <a:endParaRPr b="0" i="0" sz="2750" u="none" cap="none" strike="noStrike"/>
          </a:p>
        </p:txBody>
      </p:sp>
      <p:sp>
        <p:nvSpPr>
          <p:cNvPr id="49" name="Google Shape;49;p13"/>
          <p:cNvSpPr/>
          <p:nvPr/>
        </p:nvSpPr>
        <p:spPr>
          <a:xfrm>
            <a:off x="496119" y="2789932"/>
            <a:ext cx="5180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Big Data — Faza 3 </a:t>
            </a:r>
            <a:br>
              <a:rPr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b="0" i="0" sz="1100" u="none" cap="none" strike="noStrike"/>
          </a:p>
        </p:txBody>
      </p:sp>
      <p:sp>
        <p:nvSpPr>
          <p:cNvPr id="50" name="Google Shape;50;p13"/>
          <p:cNvSpPr/>
          <p:nvPr/>
        </p:nvSpPr>
        <p:spPr>
          <a:xfrm>
            <a:off x="496119" y="3176215"/>
            <a:ext cx="655439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F2F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/>
          <p:nvPr/>
        </p:nvSpPr>
        <p:spPr>
          <a:xfrm>
            <a:off x="585936" y="3223468"/>
            <a:ext cx="933004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F2F2F3"/>
                </a:solidFill>
                <a:latin typeface="Roboto Light"/>
                <a:ea typeface="Roboto Light"/>
                <a:cs typeface="Roboto Light"/>
                <a:sym typeface="Roboto Light"/>
              </a:rPr>
              <a:t>BIG DATA</a:t>
            </a:r>
            <a:endParaRPr b="0" i="0" sz="850" u="none" cap="none" strike="noStrike"/>
          </a:p>
        </p:txBody>
      </p:sp>
      <p:sp>
        <p:nvSpPr>
          <p:cNvPr id="52" name="Google Shape;52;p13"/>
          <p:cNvSpPr/>
          <p:nvPr/>
        </p:nvSpPr>
        <p:spPr>
          <a:xfrm>
            <a:off x="1222400" y="3176215"/>
            <a:ext cx="540618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F2F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1312218" y="3223468"/>
            <a:ext cx="818183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F2F2F3"/>
                </a:solidFill>
                <a:latin typeface="Roboto Light"/>
                <a:ea typeface="Roboto Light"/>
                <a:cs typeface="Roboto Light"/>
                <a:sym typeface="Roboto Light"/>
              </a:rPr>
              <a:t>NOSQL</a:t>
            </a:r>
            <a:endParaRPr b="0" i="0" sz="850" u="none" cap="none" strike="noStrike"/>
          </a:p>
        </p:txBody>
      </p:sp>
      <p:sp>
        <p:nvSpPr>
          <p:cNvPr id="54" name="Google Shape;54;p13"/>
          <p:cNvSpPr/>
          <p:nvPr/>
        </p:nvSpPr>
        <p:spPr>
          <a:xfrm>
            <a:off x="1833860" y="3176215"/>
            <a:ext cx="1245096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F2F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923678" y="3223468"/>
            <a:ext cx="1522661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F2F2F3"/>
                </a:solidFill>
                <a:latin typeface="Roboto Light"/>
                <a:ea typeface="Roboto Light"/>
                <a:cs typeface="Roboto Light"/>
                <a:sym typeface="Roboto Light"/>
              </a:rPr>
              <a:t>NETWORK ANALYSIS</a:t>
            </a:r>
            <a:endParaRPr b="0" i="0" sz="850" u="none" cap="none" strike="noStrike"/>
          </a:p>
        </p:txBody>
      </p:sp>
      <p:sp>
        <p:nvSpPr>
          <p:cNvPr id="56" name="Google Shape;56;p13"/>
          <p:cNvSpPr/>
          <p:nvPr/>
        </p:nvSpPr>
        <p:spPr>
          <a:xfrm>
            <a:off x="496125" y="3611650"/>
            <a:ext cx="5096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Anetare: Elsa Krasniqi, Elona Kuqi, Fahrije Gjokiqi, Florjete Kuka, Amela Syla</a:t>
            </a: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br>
              <a:rPr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b="0" i="0" sz="1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496119" y="777999"/>
            <a:ext cx="959123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F2F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585936" y="825252"/>
            <a:ext cx="1236687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F2F2F3"/>
                </a:solidFill>
                <a:latin typeface="Roboto Light"/>
                <a:ea typeface="Roboto Light"/>
                <a:cs typeface="Roboto Light"/>
                <a:sym typeface="Roboto Light"/>
              </a:rPr>
              <a:t>PËRMBLEDHJE</a:t>
            </a:r>
            <a:endParaRPr b="0" i="0" sz="850" u="none" cap="none" strike="noStrike"/>
          </a:p>
        </p:txBody>
      </p:sp>
      <p:sp>
        <p:nvSpPr>
          <p:cNvPr id="64" name="Google Shape;64;p14"/>
          <p:cNvSpPr/>
          <p:nvPr/>
        </p:nvSpPr>
        <p:spPr>
          <a:xfrm>
            <a:off x="496119" y="1110630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b="0" i="0" lang="en-US" sz="2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Përmbajtja</a:t>
            </a:r>
            <a:endParaRPr b="0" i="0" sz="275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496119" y="1766218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Roadmap i temave kryesore të projektit</a:t>
            </a:r>
            <a:endParaRPr b="0" i="0" sz="1100" u="none" cap="none" strike="noStrike"/>
          </a:p>
        </p:txBody>
      </p:sp>
      <p:pic>
        <p:nvPicPr>
          <p:cNvPr descr="preencoded.png"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52501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637877" y="286129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NoSQL Data</a:t>
            </a:r>
            <a:endParaRPr b="0" i="0" sz="13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37877" y="3167807"/>
            <a:ext cx="2433712" cy="503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Migrimi SQL → MongoDB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Query-t NoSQL</a:t>
            </a:r>
            <a:endParaRPr b="0" i="0" sz="1100" u="none" cap="none" strike="noStrike"/>
          </a:p>
        </p:txBody>
      </p:sp>
      <p:pic>
        <p:nvPicPr>
          <p:cNvPr descr="preencoded.png"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2152501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3355107" y="2861295"/>
            <a:ext cx="215398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Big Data - Apache Spark</a:t>
            </a:r>
            <a:endParaRPr b="0" i="0" sz="13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3355107" y="3167807"/>
            <a:ext cx="2433712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Importimi i dataset-eve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Parquet Format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SparkSQL Queries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World Oil Data</a:t>
            </a:r>
            <a:endParaRPr b="0" i="0" sz="1100" u="none" cap="none" strike="noStrike"/>
          </a:p>
        </p:txBody>
      </p:sp>
      <p:pic>
        <p:nvPicPr>
          <p:cNvPr descr="preencoded.png" id="72" name="Google Shape;7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2152501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6072336" y="286129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Network Analysis</a:t>
            </a:r>
            <a:endParaRPr b="0" i="0" sz="13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6072336" y="3167807"/>
            <a:ext cx="2433712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Ndërtimi i grafit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Degree Centrality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Closeness Centrality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Betweenness Centrality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3925119" y="671587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b="0" i="0" lang="en-US" sz="2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NoSQL Migration: SQL → MongoDB</a:t>
            </a:r>
            <a:endParaRPr b="0" i="0" sz="275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3925119" y="1770162"/>
            <a:ext cx="2290465" cy="1506810"/>
          </a:xfrm>
          <a:prstGeom prst="roundRect">
            <a:avLst>
              <a:gd fmla="val 3952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4071640" y="1916683"/>
            <a:ext cx="181622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Tables → Collections</a:t>
            </a:r>
            <a:endParaRPr b="0" i="0" sz="13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4071640" y="2223195"/>
            <a:ext cx="1997422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Tabelat relazionale u konvertuan në collections MongoDB, duke ruajtur strukturën logjike të të dhënave.</a:t>
            </a:r>
            <a:endParaRPr b="0" i="0" sz="110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6357342" y="1770162"/>
            <a:ext cx="2290539" cy="1506810"/>
          </a:xfrm>
          <a:prstGeom prst="roundRect">
            <a:avLst>
              <a:gd fmla="val 3952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503863" y="191668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Schema Fleksibël</a:t>
            </a:r>
            <a:endParaRPr b="0" i="0" sz="135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6503863" y="2223195"/>
            <a:ext cx="199749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Modeli document-based mundëson fusha dinamike pa nevojë për migrime komplekse të skemës.</a:t>
            </a:r>
            <a:endParaRPr b="0" i="0" sz="11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3925119" y="3418731"/>
            <a:ext cx="4722763" cy="1053182"/>
          </a:xfrm>
          <a:prstGeom prst="roundRect">
            <a:avLst>
              <a:gd fmla="val 565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071640" y="356525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Verifikim Integriteti</a:t>
            </a:r>
            <a:endParaRPr b="0" i="0" sz="135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4071640" y="3871764"/>
            <a:ext cx="442972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Çdo rekord nga tabelat relacionale është ruajtur si dokument individual, duke ruajtur integritetin dhe konsistencën e të dhënave. </a:t>
            </a:r>
            <a:endParaRPr b="0" i="0" sz="110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7623450" y="4755625"/>
            <a:ext cx="1520700" cy="387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1106144" y="675718"/>
            <a:ext cx="6032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b="0" i="0" lang="en-US" sz="2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NoSQL Queries: SQL vs MongoDB</a:t>
            </a:r>
            <a:endParaRPr b="0" i="0" sz="2750" u="none" cap="none" strike="noStrike"/>
          </a:p>
        </p:txBody>
      </p:sp>
      <p:sp>
        <p:nvSpPr>
          <p:cNvPr id="99" name="Google Shape;99;p16"/>
          <p:cNvSpPr/>
          <p:nvPr/>
        </p:nvSpPr>
        <p:spPr>
          <a:xfrm>
            <a:off x="93144" y="1444940"/>
            <a:ext cx="3481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Query 1 — GDP Growth vs Fuel Price</a:t>
            </a:r>
            <a:endParaRPr b="0" i="0" sz="135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93150" y="1755725"/>
            <a:ext cx="41652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100">
                <a:solidFill>
                  <a:schemeClr val="lt1"/>
                </a:solidFill>
              </a:rPr>
              <a:t>Kjo query </a:t>
            </a:r>
            <a:r>
              <a:rPr b="1" lang="en-US" sz="1100">
                <a:solidFill>
                  <a:schemeClr val="lt1"/>
                </a:solidFill>
              </a:rPr>
              <a:t>krahason rritjen ekonomike (GDP) të një vendi me çmimin e karburantit</a:t>
            </a:r>
            <a:r>
              <a:rPr lang="en-US" sz="1100">
                <a:solidFill>
                  <a:schemeClr val="lt1"/>
                </a:solidFill>
              </a:rPr>
              <a:t> në të njëjtin vend. Qëllimi është të gjesh nëse ka lidhje — p.sh. kur çmimi i naftës rritet, a ngadalësohet ekonomia? </a:t>
            </a:r>
            <a:endParaRPr b="0" i="0" sz="1100" u="none" cap="none" strike="noStrike">
              <a:solidFill>
                <a:schemeClr val="lt1"/>
              </a:solidFill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7994" y="2986230"/>
            <a:ext cx="4255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Query 2 — Mesatarja e Çmimit sipas Rajonit</a:t>
            </a:r>
            <a:endParaRPr b="0" i="0" sz="1350" u="none" cap="none" strike="noStrike"/>
          </a:p>
        </p:txBody>
      </p:sp>
      <p:sp>
        <p:nvSpPr>
          <p:cNvPr id="102" name="Google Shape;102;p16"/>
          <p:cNvSpPr/>
          <p:nvPr/>
        </p:nvSpPr>
        <p:spPr>
          <a:xfrm>
            <a:off x="48000" y="3310744"/>
            <a:ext cx="39030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100">
                <a:solidFill>
                  <a:schemeClr val="lt1"/>
                </a:solidFill>
              </a:rPr>
              <a:t>Merr të gjitha çmimet e karburantit dhe i </a:t>
            </a:r>
            <a:r>
              <a:rPr b="1" lang="en-US" sz="1100">
                <a:solidFill>
                  <a:schemeClr val="lt1"/>
                </a:solidFill>
              </a:rPr>
              <a:t>grupon sipas rajonit gjeografik</a:t>
            </a:r>
            <a:r>
              <a:rPr lang="en-US" sz="1100">
                <a:solidFill>
                  <a:schemeClr val="lt1"/>
                </a:solidFill>
              </a:rPr>
              <a:t> (p.sh. Evropë, Azi, Amerikë Latine), pastaj llogarit mesataren për secilin rajon. </a:t>
            </a:r>
            <a:endParaRPr b="0" i="0" sz="1100" u="none" cap="none" strike="noStrike">
              <a:solidFill>
                <a:schemeClr val="lt1"/>
              </a:solidFill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4749701" y="1755725"/>
            <a:ext cx="3903000" cy="2287500"/>
          </a:xfrm>
          <a:prstGeom prst="roundRect">
            <a:avLst>
              <a:gd fmla="val 2603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4896296" y="1850306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1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SQL (Relational)</a:t>
            </a:r>
            <a:endParaRPr b="0" i="0" sz="1100" u="none" cap="none" strike="noStrike"/>
          </a:p>
        </p:txBody>
      </p:sp>
      <p:sp>
        <p:nvSpPr>
          <p:cNvPr id="105" name="Google Shape;105;p16"/>
          <p:cNvSpPr/>
          <p:nvPr/>
        </p:nvSpPr>
        <p:spPr>
          <a:xfrm>
            <a:off x="6845350" y="1850306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1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MongoDB (Document)</a:t>
            </a:r>
            <a:endParaRPr b="0" i="0" sz="110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4896296" y="2261518"/>
            <a:ext cx="166077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SELECT AVG(price) FROM fuel</a:t>
            </a:r>
            <a:endParaRPr b="0" i="0" sz="110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6845350" y="2261518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db.fuel.aggregate([...])</a:t>
            </a:r>
            <a:endParaRPr b="0" i="0" sz="110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4896296" y="2899544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JOIN midis tabelave</a:t>
            </a:r>
            <a:endParaRPr b="0" i="0" sz="110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6845350" y="2899544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$lookup për bashkim</a:t>
            </a:r>
            <a:endParaRPr b="0" i="0" sz="1100" u="none" cap="none" strike="noStrike"/>
          </a:p>
        </p:txBody>
      </p:sp>
      <p:sp>
        <p:nvSpPr>
          <p:cNvPr id="110" name="Google Shape;110;p16"/>
          <p:cNvSpPr/>
          <p:nvPr/>
        </p:nvSpPr>
        <p:spPr>
          <a:xfrm>
            <a:off x="4896296" y="3310756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Skemë fikse</a:t>
            </a:r>
            <a:endParaRPr b="0" i="0" sz="110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6845350" y="3310756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Skemë dinamike</a:t>
            </a:r>
            <a:endParaRPr b="0" i="0" sz="1100" u="none" cap="none" strike="noStrike"/>
          </a:p>
        </p:txBody>
      </p:sp>
      <p:sp>
        <p:nvSpPr>
          <p:cNvPr id="112" name="Google Shape;112;p16"/>
          <p:cNvSpPr/>
          <p:nvPr/>
        </p:nvSpPr>
        <p:spPr>
          <a:xfrm>
            <a:off x="4896296" y="3721968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Vertikal scaling</a:t>
            </a:r>
            <a:endParaRPr b="0" i="0" sz="1100" u="none" cap="none" strike="noStrike"/>
          </a:p>
        </p:txBody>
      </p:sp>
      <p:sp>
        <p:nvSpPr>
          <p:cNvPr id="113" name="Google Shape;113;p16"/>
          <p:cNvSpPr/>
          <p:nvPr/>
        </p:nvSpPr>
        <p:spPr>
          <a:xfrm>
            <a:off x="6845350" y="3721968"/>
            <a:ext cx="2117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Horizontal scaling</a:t>
            </a:r>
            <a:endParaRPr b="0" i="0" sz="1100" u="none" cap="none" strike="noStrike"/>
          </a:p>
        </p:txBody>
      </p:sp>
      <p:sp>
        <p:nvSpPr>
          <p:cNvPr id="114" name="Google Shape;114;p16"/>
          <p:cNvSpPr/>
          <p:nvPr/>
        </p:nvSpPr>
        <p:spPr>
          <a:xfrm>
            <a:off x="7977175" y="4700525"/>
            <a:ext cx="1166700" cy="443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250" y="1460188"/>
            <a:ext cx="4705074" cy="287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3925119" y="747192"/>
            <a:ext cx="456783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b="0" i="0" lang="en-US" sz="2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Ambienti Apache Spark</a:t>
            </a:r>
            <a:endParaRPr b="0" i="0" sz="2750" u="none" cap="none" strike="noStrike"/>
          </a:p>
        </p:txBody>
      </p:sp>
      <p:pic>
        <p:nvPicPr>
          <p:cNvPr descr="preencoded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402779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4385816" y="145144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Azure Databricks</a:t>
            </a:r>
            <a:endParaRPr b="0" i="0" sz="135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4385816" y="1757958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Platformë e menaxhuar cloud për bashkëpunim dhe ekzekutim të shpejtë të kodeve Spark.</a:t>
            </a:r>
            <a:endParaRPr b="0" i="0" sz="1100" u="none" cap="none" strike="noStrike"/>
          </a:p>
        </p:txBody>
      </p:sp>
      <p:pic>
        <p:nvPicPr>
          <p:cNvPr descr="preencoded.png" id="127" name="Google Shape;1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2581554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4385825" y="2408650"/>
            <a:ext cx="2370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Apache Spark 4.0</a:t>
            </a:r>
            <a:endParaRPr sz="1350">
              <a:solidFill>
                <a:srgbClr val="E5E0D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lang="en-US" sz="13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Databricks Runtime 17.3 LTS </a:t>
            </a:r>
            <a:endParaRPr sz="1350">
              <a:solidFill>
                <a:srgbClr val="E5E0D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385816" y="2936732"/>
            <a:ext cx="4262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Versioni më i fundit me optimizime performancë dhe stabilitet afatgjatë.</a:t>
            </a:r>
            <a:endParaRPr b="0" i="0" sz="1100" u="none" cap="none" strike="noStrike"/>
          </a:p>
        </p:txBody>
      </p:sp>
      <p:pic>
        <p:nvPicPr>
          <p:cNvPr descr="preencoded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5119" y="3587428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4385816" y="363609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SparkSQL</a:t>
            </a:r>
            <a:endParaRPr b="0" i="0" sz="135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4385816" y="3942606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Lejon ekzekutimin e query-ve SQL mbi DataFrames të shpërndara në cluster.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496119" y="499988"/>
            <a:ext cx="5102275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Importimi i Dataseteve &amp; Parquet</a:t>
            </a:r>
            <a:endParaRPr b="0" i="0" sz="2200" u="none" cap="none" strike="noStrike"/>
          </a:p>
        </p:txBody>
      </p:sp>
      <p:sp>
        <p:nvSpPr>
          <p:cNvPr id="139" name="Google Shape;139;p18"/>
          <p:cNvSpPr/>
          <p:nvPr/>
        </p:nvSpPr>
        <p:spPr>
          <a:xfrm>
            <a:off x="496119" y="4078858"/>
            <a:ext cx="8151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lang="en-US" sz="9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Dataset-et u importuan në Apache Spark dhe u verifikuan përmes show(), printSchema() dhe count(). Më pas u ruajtën në formatin Parquet për optimizim të leximit dhe procesimit.</a:t>
            </a:r>
            <a:endParaRPr i="0" sz="950" u="none" cap="none" strike="noStrike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150" y="1386525"/>
            <a:ext cx="5528725" cy="23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497425" y="1736350"/>
            <a:ext cx="2254200" cy="1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• WorldBank_dataset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• fuel_price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• worldbank_dwh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496119" y="388684"/>
            <a:ext cx="7460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lang="en-US" sz="27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SparkSQL Queries &amp; Krahasimi me XQuery</a:t>
            </a:r>
            <a:endParaRPr b="0" i="0" sz="2750" u="none" cap="none" strike="noStrike"/>
          </a:p>
        </p:txBody>
      </p:sp>
      <p:sp>
        <p:nvSpPr>
          <p:cNvPr id="148" name="Google Shape;148;p19"/>
          <p:cNvSpPr/>
          <p:nvPr/>
        </p:nvSpPr>
        <p:spPr>
          <a:xfrm>
            <a:off x="496124" y="960175"/>
            <a:ext cx="2842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350"/>
              <a:buFont typeface="Poppins Light"/>
              <a:buNone/>
            </a:pPr>
            <a:r>
              <a:rPr lang="en-US" sz="13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Query 1 – Mesatarja për Kosovën </a:t>
            </a:r>
            <a:endParaRPr b="0" i="0" sz="135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496119" y="3221980"/>
            <a:ext cx="5177582" cy="10567"/>
          </a:xfrm>
          <a:prstGeom prst="rect">
            <a:avLst/>
          </a:prstGeom>
          <a:solidFill>
            <a:srgbClr val="E5E0D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496125" y="3329875"/>
            <a:ext cx="3970200" cy="13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XQuery → SparkSQL</a:t>
            </a:r>
            <a:endParaRPr b="1" sz="1100">
              <a:solidFill>
                <a:srgbClr val="E5E0D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CountryName Filter → WHERE</a:t>
            </a:r>
            <a:endParaRPr b="1" sz="1100">
              <a:solidFill>
                <a:srgbClr val="E5E0D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avg() → AVG()</a:t>
            </a:r>
            <a:endParaRPr b="1" sz="1100">
              <a:solidFill>
                <a:srgbClr val="E5E0D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Grouping → GROUP BY</a:t>
            </a:r>
            <a:endParaRPr b="1" sz="1100">
              <a:solidFill>
                <a:srgbClr val="E5E0D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E5E0D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t/>
            </a:r>
            <a:endParaRPr b="1" sz="1100">
              <a:solidFill>
                <a:srgbClr val="E5E0D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800" y="1562573"/>
            <a:ext cx="3788950" cy="284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72" y="1660025"/>
            <a:ext cx="4620900" cy="146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7100" y="4638679"/>
            <a:ext cx="18669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275175" y="1317625"/>
            <a:ext cx="2381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XQuery (Faza 2)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5005800" y="1181575"/>
            <a:ext cx="2381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SparkSQL (Faza 3)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496119" y="679772"/>
            <a:ext cx="7282532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b="0" i="0" lang="en-US" sz="2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Analiza e Dataset-it: world-oil-data.csv</a:t>
            </a:r>
            <a:endParaRPr b="0" i="0" sz="2750" u="none" cap="none" strike="noStrike"/>
          </a:p>
        </p:txBody>
      </p:sp>
      <p:pic>
        <p:nvPicPr>
          <p:cNvPr descr="preencoded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94830"/>
            <a:ext cx="3902943" cy="280935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350"/>
              <a:buFont typeface="Poppins Light"/>
              <a:buNone/>
            </a:pPr>
            <a:r>
              <a:rPr b="0" i="0" lang="en-US" sz="13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Gjetjet Kryesore</a:t>
            </a:r>
            <a:endParaRPr b="0" i="0" sz="1350" u="none" cap="none" strike="noStrike"/>
          </a:p>
        </p:txBody>
      </p:sp>
      <p:sp>
        <p:nvSpPr>
          <p:cNvPr id="164" name="Google Shape;164;p20"/>
          <p:cNvSpPr/>
          <p:nvPr/>
        </p:nvSpPr>
        <p:spPr>
          <a:xfrm>
            <a:off x="4749701" y="1840334"/>
            <a:ext cx="3902943" cy="1736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1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504,926 rreshta</a:t>
            </a: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— dataset i madh global i naftës dhe energjisë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SHBA dominon në prodhim, pasuar nga Arabia Saudite dhe Rusia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Produktet kryesore: naftë e papërpunuar, gaz natyror, karburant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Char char="•"/>
            </a:pPr>
            <a:r>
              <a:rPr b="0" i="0" lang="en-US" sz="11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Rezultatet u validuan me SparkSQL për saktësi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/>
          <p:nvPr/>
        </p:nvSpPr>
        <p:spPr>
          <a:xfrm>
            <a:off x="5308600" y="117925"/>
            <a:ext cx="3780900" cy="5143500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496119" y="690637"/>
            <a:ext cx="4479503" cy="37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350"/>
              <a:buFont typeface="Poppins Light"/>
              <a:buNone/>
            </a:pPr>
            <a:r>
              <a:rPr b="0" i="0" lang="en-US" sz="23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Network Analysis me Gephi</a:t>
            </a:r>
            <a:endParaRPr b="0" i="0" sz="2350" u="none" cap="none" strike="noStrike"/>
          </a:p>
        </p:txBody>
      </p:sp>
      <p:pic>
        <p:nvPicPr>
          <p:cNvPr descr="preencoded.png"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831" y="1220763"/>
            <a:ext cx="4737050" cy="697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/>
          <p:nvPr/>
        </p:nvSpPr>
        <p:spPr>
          <a:xfrm>
            <a:off x="680970" y="1345552"/>
            <a:ext cx="15063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Poppins Light"/>
              <a:buNone/>
            </a:pPr>
            <a:r>
              <a:rPr b="0" i="0" lang="en-US" sz="11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Degree Centrality</a:t>
            </a:r>
            <a:endParaRPr b="0" i="0" sz="1150" u="none" cap="none" strike="noStrike"/>
          </a:p>
        </p:txBody>
      </p:sp>
      <p:sp>
        <p:nvSpPr>
          <p:cNvPr id="174" name="Google Shape;174;p21"/>
          <p:cNvSpPr/>
          <p:nvPr/>
        </p:nvSpPr>
        <p:spPr>
          <a:xfrm>
            <a:off x="673745" y="1522149"/>
            <a:ext cx="44103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Roboto Light"/>
              <a:buNone/>
            </a:pPr>
            <a:r>
              <a:rPr lang="en-US" sz="9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Produktet kryesore të naftës kanë Degree Centrality më të lartë, ndërsa China, Syria dhe Russia kanë vlera më të ulëta. </a:t>
            </a:r>
            <a:endParaRPr b="0" i="0" sz="900" u="none" cap="none" strike="noStrike"/>
          </a:p>
        </p:txBody>
      </p:sp>
      <p:pic>
        <p:nvPicPr>
          <p:cNvPr descr="preencoded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831" y="2020639"/>
            <a:ext cx="4737050" cy="697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/>
          <p:nvPr/>
        </p:nvSpPr>
        <p:spPr>
          <a:xfrm>
            <a:off x="673745" y="2155403"/>
            <a:ext cx="1520651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Poppins Light"/>
              <a:buNone/>
            </a:pPr>
            <a:r>
              <a:rPr b="0" i="0" lang="en-US" sz="11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Closeness Centrality</a:t>
            </a:r>
            <a:endParaRPr b="0" i="0" sz="1150" u="none" cap="none" strike="noStrike"/>
          </a:p>
        </p:txBody>
      </p:sp>
      <p:sp>
        <p:nvSpPr>
          <p:cNvPr id="177" name="Google Shape;177;p21"/>
          <p:cNvSpPr/>
          <p:nvPr/>
        </p:nvSpPr>
        <p:spPr>
          <a:xfrm>
            <a:off x="645233" y="2347613"/>
            <a:ext cx="44103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Roboto Light"/>
              <a:buNone/>
            </a:pPr>
            <a:r>
              <a:rPr lang="en-US" sz="9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Nyjet me Closeness Centrality më të lartë janë më afër nyjeve të tjera dhe mund të ndikojnë më shpejt në gjithë rrjetin. </a:t>
            </a:r>
            <a:endParaRPr b="0" i="0" sz="900" u="none" cap="none" strike="noStrike"/>
          </a:p>
        </p:txBody>
      </p:sp>
      <p:pic>
        <p:nvPicPr>
          <p:cNvPr descr="preencoded.png" id="178" name="Google Shape;1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31" y="2820516"/>
            <a:ext cx="4737050" cy="87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/>
          <p:nvPr/>
        </p:nvSpPr>
        <p:spPr>
          <a:xfrm>
            <a:off x="673745" y="2955280"/>
            <a:ext cx="1745382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Poppins Light"/>
              <a:buNone/>
            </a:pPr>
            <a:r>
              <a:rPr b="0" i="0" lang="en-US" sz="11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Betweenness Centrality</a:t>
            </a:r>
            <a:endParaRPr b="0" i="0" sz="1150" u="none" cap="none" strike="noStrike"/>
          </a:p>
        </p:txBody>
      </p:sp>
      <p:sp>
        <p:nvSpPr>
          <p:cNvPr id="180" name="Google Shape;180;p21"/>
          <p:cNvSpPr/>
          <p:nvPr/>
        </p:nvSpPr>
        <p:spPr>
          <a:xfrm>
            <a:off x="673745" y="3204939"/>
            <a:ext cx="4410373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Roboto Light"/>
              <a:buNone/>
            </a:pPr>
            <a:r>
              <a:rPr lang="en-US" sz="90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Nyjet me Betweenness Centrality më të lartë veprojnë si ura lidhëse dhe kanë rol të rëndësishëm në lidhshmërinë e rrjetit. </a:t>
            </a:r>
            <a:endParaRPr b="0" i="0" sz="900" u="none" cap="none" strike="noStrike"/>
          </a:p>
        </p:txBody>
      </p:sp>
      <p:sp>
        <p:nvSpPr>
          <p:cNvPr id="181" name="Google Shape;181;p21"/>
          <p:cNvSpPr/>
          <p:nvPr/>
        </p:nvSpPr>
        <p:spPr>
          <a:xfrm>
            <a:off x="488969" y="3838713"/>
            <a:ext cx="4722900" cy="641400"/>
          </a:xfrm>
          <a:prstGeom prst="roundRect">
            <a:avLst>
              <a:gd fmla="val 7891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630472" y="3981070"/>
            <a:ext cx="4210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Light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 Vendet me Betweenness të lartë janë nyje strategjike në tregtinë globale të naftës, ndërsa produktet me Degree të lartë janë më të diversifikuara.</a:t>
            </a:r>
            <a:endParaRPr b="0" i="0" sz="900" u="none" cap="none" strike="noStrike"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0250" y="941550"/>
            <a:ext cx="3662774" cy="322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496119" y="480864"/>
            <a:ext cx="3292525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Përfundimi</a:t>
            </a:r>
            <a:endParaRPr b="0" i="0" sz="2200" u="none" cap="none" strike="noStrike"/>
          </a:p>
        </p:txBody>
      </p:sp>
      <p:sp>
        <p:nvSpPr>
          <p:cNvPr id="190" name="Google Shape;190;p22"/>
          <p:cNvSpPr/>
          <p:nvPr/>
        </p:nvSpPr>
        <p:spPr>
          <a:xfrm>
            <a:off x="496119" y="1016645"/>
            <a:ext cx="8151763" cy="957709"/>
          </a:xfrm>
          <a:prstGeom prst="roundRect">
            <a:avLst>
              <a:gd fmla="val 4974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500881" y="1021407"/>
            <a:ext cx="2714030" cy="948184"/>
          </a:xfrm>
          <a:prstGeom prst="roundRect">
            <a:avLst>
              <a:gd fmla="val 5024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614288" y="1134814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NoSQL </a:t>
            </a:r>
            <a:endParaRPr b="0" i="0" sz="1100" u="none" cap="none" strike="noStrike"/>
          </a:p>
        </p:txBody>
      </p:sp>
      <p:sp>
        <p:nvSpPr>
          <p:cNvPr id="193" name="Google Shape;193;p22"/>
          <p:cNvSpPr/>
          <p:nvPr/>
        </p:nvSpPr>
        <p:spPr>
          <a:xfrm>
            <a:off x="614288" y="1366391"/>
            <a:ext cx="2487216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Skemë fleksibël me MongoDB; migrim i suksesshëm nga SQL me verifikim integriteti.</a:t>
            </a:r>
            <a:endParaRPr b="0" i="0" sz="850" u="none" cap="none" strike="noStrike"/>
          </a:p>
        </p:txBody>
      </p:sp>
      <p:sp>
        <p:nvSpPr>
          <p:cNvPr id="194" name="Google Shape;194;p22"/>
          <p:cNvSpPr/>
          <p:nvPr/>
        </p:nvSpPr>
        <p:spPr>
          <a:xfrm>
            <a:off x="3214911" y="1021407"/>
            <a:ext cx="2714104" cy="948184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3214911" y="1021407"/>
            <a:ext cx="14288" cy="948184"/>
          </a:xfrm>
          <a:prstGeom prst="roundRect">
            <a:avLst>
              <a:gd fmla="val 33338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3318740" y="1134814"/>
            <a:ext cx="14496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Apache Spark </a:t>
            </a:r>
            <a:endParaRPr b="0" i="0" sz="1100" u="none" cap="none" strike="noStrike"/>
          </a:p>
        </p:txBody>
      </p:sp>
      <p:sp>
        <p:nvSpPr>
          <p:cNvPr id="197" name="Google Shape;197;p22"/>
          <p:cNvSpPr/>
          <p:nvPr/>
        </p:nvSpPr>
        <p:spPr>
          <a:xfrm>
            <a:off x="3328318" y="1366391"/>
            <a:ext cx="2487290" cy="489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Përpunim efektiv i Big Data me SparkSQL në Azure Databricks; query komplekse mbi 500K+ rreshta.</a:t>
            </a:r>
            <a:endParaRPr b="0" i="0" sz="850" u="none" cap="none" strike="noStrike"/>
          </a:p>
        </p:txBody>
      </p:sp>
      <p:sp>
        <p:nvSpPr>
          <p:cNvPr id="198" name="Google Shape;198;p22"/>
          <p:cNvSpPr/>
          <p:nvPr/>
        </p:nvSpPr>
        <p:spPr>
          <a:xfrm>
            <a:off x="5929015" y="1021407"/>
            <a:ext cx="2714104" cy="948184"/>
          </a:xfrm>
          <a:prstGeom prst="rect">
            <a:avLst/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5929015" y="1021407"/>
            <a:ext cx="14288" cy="948184"/>
          </a:xfrm>
          <a:prstGeom prst="roundRect">
            <a:avLst>
              <a:gd fmla="val 33338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6042422" y="1134814"/>
            <a:ext cx="1635621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Network Analysis </a:t>
            </a:r>
            <a:endParaRPr b="0" i="0" sz="1100" u="none" cap="none" strike="noStrike"/>
          </a:p>
        </p:txBody>
      </p:sp>
      <p:sp>
        <p:nvSpPr>
          <p:cNvPr id="201" name="Google Shape;201;p22"/>
          <p:cNvSpPr/>
          <p:nvPr/>
        </p:nvSpPr>
        <p:spPr>
          <a:xfrm>
            <a:off x="6042422" y="1366391"/>
            <a:ext cx="2487290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Gephi zbuloi marrëdhënie të fshehura midis vendeve dhe produkteve të energjisë.</a:t>
            </a:r>
            <a:endParaRPr b="0" i="0" sz="850" u="none" cap="none" strike="noStrike"/>
          </a:p>
        </p:txBody>
      </p:sp>
      <p:pic>
        <p:nvPicPr>
          <p:cNvPr descr="preencoded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6266" y="2076376"/>
            <a:ext cx="5071393" cy="23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/>
          <p:nvPr/>
        </p:nvSpPr>
        <p:spPr>
          <a:xfrm>
            <a:off x="5919435" y="3754487"/>
            <a:ext cx="952102" cy="36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Poppins Light"/>
              <a:buNone/>
            </a:pPr>
            <a:r>
              <a:rPr b="0" i="0" lang="en-US" sz="11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Analitikë Grafi</a:t>
            </a:r>
            <a:endParaRPr b="0" i="0" sz="1150" u="none" cap="none" strike="noStrike"/>
          </a:p>
        </p:txBody>
      </p:sp>
      <p:sp>
        <p:nvSpPr>
          <p:cNvPr id="204" name="Google Shape;204;p22"/>
          <p:cNvSpPr/>
          <p:nvPr/>
        </p:nvSpPr>
        <p:spPr>
          <a:xfrm>
            <a:off x="4490926" y="3846192"/>
            <a:ext cx="1180701" cy="18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Poppins Light"/>
              <a:buNone/>
            </a:pPr>
            <a:r>
              <a:rPr b="0" i="0" lang="en-US" sz="11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Big Data</a:t>
            </a:r>
            <a:endParaRPr b="0" i="0" sz="1150" u="none" cap="none" strike="noStrike"/>
          </a:p>
        </p:txBody>
      </p:sp>
      <p:sp>
        <p:nvSpPr>
          <p:cNvPr id="205" name="Google Shape;205;p22"/>
          <p:cNvSpPr/>
          <p:nvPr/>
        </p:nvSpPr>
        <p:spPr>
          <a:xfrm>
            <a:off x="3297538" y="3846192"/>
            <a:ext cx="1180702" cy="18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Poppins Light"/>
              <a:buNone/>
            </a:pPr>
            <a:r>
              <a:rPr b="0" i="0" lang="en-US" sz="11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NoSQL</a:t>
            </a:r>
            <a:endParaRPr b="0" i="0" sz="1150" u="none" cap="none" strike="noStrike"/>
          </a:p>
        </p:txBody>
      </p:sp>
      <p:sp>
        <p:nvSpPr>
          <p:cNvPr id="206" name="Google Shape;206;p22"/>
          <p:cNvSpPr/>
          <p:nvPr/>
        </p:nvSpPr>
        <p:spPr>
          <a:xfrm>
            <a:off x="2078065" y="3846192"/>
            <a:ext cx="1180702" cy="18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Poppins Light"/>
              <a:buNone/>
            </a:pPr>
            <a:r>
              <a:rPr b="0" i="0" lang="en-US" sz="11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SQL</a:t>
            </a:r>
            <a:endParaRPr b="0" i="0" sz="1150" u="none" cap="none" strike="noStrike"/>
          </a:p>
        </p:txBody>
      </p:sp>
      <p:sp>
        <p:nvSpPr>
          <p:cNvPr id="207" name="Google Shape;207;p22"/>
          <p:cNvSpPr/>
          <p:nvPr/>
        </p:nvSpPr>
        <p:spPr>
          <a:xfrm>
            <a:off x="496119" y="4499372"/>
            <a:ext cx="8608963" cy="16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Projekti demonstron një rrugëtim të plotë nga sistemet tradicionale te analitika moderne e të dhënave në shkallë të gjerë.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